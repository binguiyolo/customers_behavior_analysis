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Gantari Bold"/>
      <p:regular r:id="rId201314"/>
    </p:embeddedFont>
    <p:embeddedFont>
      <p:font typeface="Mozilla Text"/>
      <p:regular r:id="rId201315"/>
    </p:embeddedFont>
    <p:embeddedFont>
      <p:font typeface="Mozilla Text Medium"/>
      <p:regular r:id="rId201316"/>
    </p:embeddedFont>
    <p:embeddedFont>
      <p:font typeface="Mozilla Text SemiBold"/>
      <p:regular r:id="rId201317"/>
    </p:embeddedFont>
    <p:embeddedFont>
      <p:font typeface="Mozilla Tex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 à toute l'équipe. Cette présentation résume les grands équilibres d'achat observés sur nos données récentes et formule trois priorités commerciales concrètes.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trois chiffres fixent le cadre : un panier moyen de 59,76 $, une note moyenne de 3,75 et un total des achats affiché de 3,90 K$.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graphique montre la hiérarchie nette : les vêtements caracolent en tête partout, suivis des accessoires, puis un décrochage net sur les chaussures et l'outdoor.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enseignements opérationnels : les jeunes adultes tirent la mode textile vers le haut (29 K$), tandis que les quadragénaires et quinquagénaires achètent davantage de chaussures.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accessoires se distinguent par leur insensibilité à l'âge : l'écart d'une tranche à l'autre ne dépasse pas 1,5 à 2 K$. C'est un produit universel.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trois actions découlent directement des données : capitaliser sur notre locomotive textile, relancer les chaussures sur le bon segment et utiliser les accessoires comme levier de panier additionnel.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E1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E1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711200"/>
            <a:ext cx="5587860" cy="5435600"/>
          </a:xfrm>
          <a:prstGeom prst="roundRect">
            <a:avLst>
              <a:gd name="adj" fmla="val 3575"/>
            </a:avLst>
          </a:prstGeom>
          <a:solidFill>
            <a:srgbClr val="0E1F45"/>
          </a:solidFill>
          <a:ln/>
        </p:spPr>
      </p:sp>
      <p:sp>
        <p:nvSpPr>
          <p:cNvPr id="3" name="Text 1"/>
          <p:cNvSpPr/>
          <p:nvPr/>
        </p:nvSpPr>
        <p:spPr>
          <a:xfrm>
            <a:off x="965176" y="1073468"/>
            <a:ext cx="5486263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29" kern="100" dirty="0">
                <a:solidFill>
                  <a:srgbClr val="F0609E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0"/>
              </a:rPr>
              <a:t>ANALYSE COMMERCIALE &amp; MARKETING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65176" y="1408663"/>
            <a:ext cx="4876678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22" kern="100" dirty="0">
                <a:solidFill>
                  <a:srgbClr val="FFFFFF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Comportement</a:t>
            </a:r>
            <a:endParaRPr lang="en-US" sz="44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4400" b="1" spc="-22" kern="100" dirty="0">
                <a:solidFill>
                  <a:srgbClr val="FFFFFF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d'achat des clients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5176" y="2777232"/>
            <a:ext cx="487667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Structure des paniers, poids des catégories et leviers d'action par tranche d'âge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36602" y="4193282"/>
            <a:ext cx="1682708" cy="76200"/>
          </a:xfrm>
          <a:prstGeom prst="rect">
            <a:avLst/>
          </a:prstGeom>
          <a:solidFill>
            <a:srgbClr val="F0609E"/>
          </a:solidFill>
          <a:ln/>
        </p:spPr>
      </p:sp>
      <p:sp>
        <p:nvSpPr>
          <p:cNvPr id="7" name="Text 5"/>
          <p:cNvSpPr/>
          <p:nvPr/>
        </p:nvSpPr>
        <p:spPr>
          <a:xfrm>
            <a:off x="965176" y="4494907"/>
            <a:ext cx="162555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Panier type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62161" y="4193282"/>
            <a:ext cx="1682708" cy="76200"/>
          </a:xfrm>
          <a:prstGeom prst="rect">
            <a:avLst/>
          </a:prstGeom>
          <a:solidFill>
            <a:srgbClr val="F0609E"/>
          </a:solidFill>
          <a:ln/>
        </p:spPr>
      </p:sp>
      <p:sp>
        <p:nvSpPr>
          <p:cNvPr id="9" name="Text 7"/>
          <p:cNvSpPr/>
          <p:nvPr/>
        </p:nvSpPr>
        <p:spPr>
          <a:xfrm>
            <a:off x="2590735" y="4494907"/>
            <a:ext cx="162555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Catégories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187720" y="4193282"/>
            <a:ext cx="1682708" cy="7620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11" name="Text 9"/>
          <p:cNvSpPr/>
          <p:nvPr/>
        </p:nvSpPr>
        <p:spPr>
          <a:xfrm>
            <a:off x="4216295" y="4494907"/>
            <a:ext cx="162555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Actions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523962" y="3967857"/>
            <a:ext cx="507987" cy="508000"/>
          </a:xfrm>
          <a:prstGeom prst="ellipse">
            <a:avLst/>
          </a:prstGeom>
          <a:solidFill>
            <a:srgbClr val="F0609E"/>
          </a:solidFill>
          <a:ln/>
        </p:spPr>
      </p:sp>
      <p:sp>
        <p:nvSpPr>
          <p:cNvPr id="13" name="Text 11"/>
          <p:cNvSpPr/>
          <p:nvPr/>
        </p:nvSpPr>
        <p:spPr>
          <a:xfrm>
            <a:off x="1732614" y="4107557"/>
            <a:ext cx="7001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E1F45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49521" y="3967857"/>
            <a:ext cx="507987" cy="508000"/>
          </a:xfrm>
          <a:prstGeom prst="ellipse">
            <a:avLst/>
          </a:prstGeom>
          <a:solidFill>
            <a:srgbClr val="F0609E"/>
          </a:solidFill>
          <a:ln/>
        </p:spPr>
      </p:sp>
      <p:sp>
        <p:nvSpPr>
          <p:cNvPr id="15" name="Text 13"/>
          <p:cNvSpPr/>
          <p:nvPr/>
        </p:nvSpPr>
        <p:spPr>
          <a:xfrm>
            <a:off x="3340116" y="4107557"/>
            <a:ext cx="7362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E1F45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75081" y="3967857"/>
            <a:ext cx="507987" cy="5080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7" name="Text 15"/>
          <p:cNvSpPr/>
          <p:nvPr/>
        </p:nvSpPr>
        <p:spPr>
          <a:xfrm>
            <a:off x="4963393" y="4107557"/>
            <a:ext cx="7408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E1F45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50214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29" kern="100" dirty="0">
                <a:solidFill>
                  <a:srgbClr val="F0609E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0"/>
              </a:rPr>
              <a:t>REPÈRES CLÉS DU RAPPORT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1878780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F7F2E8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Trois chiffres résument le panier type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559844"/>
          <a:ext cx="10972526" cy="914400"/>
        </p:xfrm>
        <a:graphic>
          <a:graphicData uri="http://schemas.openxmlformats.org/drawingml/2006/table">
            <a:tbl>
              <a:tblPr/>
              <a:tblGrid>
                <a:gridCol w="3072232"/>
                <a:gridCol w="7900294"/>
              </a:tblGrid>
              <a:tr h="92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7F2E8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0"/>
                        </a:rPr>
                        <a:t>3,90 K$</a:t>
                      </a:r>
                      <a:endParaRPr lang="en-US" sz="420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61921" marR="161921" marT="76198" marB="76198" anchor="ctr">
                    <a:lnL w="12700" cap="flat" cmpd="sng" algn="ctr">
                      <a:solidFill>
                        <a:srgbClr val="0E1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7F2E8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0"/>
                        </a:rPr>
                        <a:t>Total des achats affiché</a:t>
                      </a:r>
                      <a:endParaRPr lang="en-US" sz="170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61921" marR="161921" marT="76198" marB="76198" anchor="ctr">
                    <a:lnL w="12700" cap="flat" cmpd="sng" algn="ctr">
                      <a:solidFill>
                        <a:srgbClr val="0E1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7F2E8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0"/>
                        </a:rPr>
                        <a:t>59,76 $</a:t>
                      </a:r>
                      <a:endParaRPr lang="en-US" sz="420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61921" marR="161921" marT="76198" marB="76198" anchor="ctr">
                    <a:lnL w="12700" cap="flat" cmpd="sng" algn="ctr">
                      <a:solidFill>
                        <a:srgbClr val="0E1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7F2E8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0"/>
                        </a:rPr>
                        <a:t>Montant moyen par achat</a:t>
                      </a:r>
                      <a:endParaRPr lang="en-US" sz="170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61921" marR="161921" marT="76198" marB="76198" anchor="ctr">
                    <a:lnL w="12700" cap="flat" cmpd="sng" algn="ctr">
                      <a:solidFill>
                        <a:srgbClr val="0E1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9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7F2E8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0"/>
                        </a:rPr>
                        <a:t>3,75</a:t>
                      </a:r>
                      <a:endParaRPr lang="en-US" sz="420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61921" marR="161921" marT="76198" marB="76198" anchor="ctr">
                    <a:lnL w="12700" cap="flat" cmpd="sng" algn="ctr">
                      <a:solidFill>
                        <a:srgbClr val="0E1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7F2E8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0"/>
                        </a:rPr>
                        <a:t>Note moyenne des avis</a:t>
                      </a:r>
                      <a:endParaRPr lang="en-US" sz="170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61921" marR="161921" marT="76198" marB="76198" anchor="ctr">
                    <a:lnL w="12700" cap="flat" cmpd="sng" algn="ctr">
                      <a:solidFill>
                        <a:srgbClr val="0E1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493"/>
            <a:ext cx="11582110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0609E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0"/>
              </a:rPr>
              <a:t>RÉPARTITION PAR CATÉGORIE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916750"/>
            <a:ext cx="10972526" cy="46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50" b="1" spc="-17" kern="100" dirty="0">
                <a:solidFill>
                  <a:srgbClr val="F7F2E8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Les vêtements dominent les dépenses</a:t>
            </a:r>
            <a:endParaRPr lang="en-US" sz="3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787723"/>
            <a:ext cx="7010225" cy="33842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246588"/>
            <a:ext cx="7010225" cy="232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7" kern="100" dirty="0">
                <a:solidFill>
                  <a:srgbClr val="C2C8D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Dépenses totales mesurées par catégorie et segment d'âge (en milliers de dollars).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8076998" y="1539478"/>
            <a:ext cx="3505112" cy="4187527"/>
          </a:xfrm>
          <a:prstGeom prst="roundRect">
            <a:avLst>
              <a:gd name="adj" fmla="val 5175"/>
            </a:avLst>
          </a:prstGeom>
          <a:solidFill>
            <a:srgbClr val="16295A"/>
          </a:solidFill>
          <a:ln/>
        </p:spPr>
      </p:sp>
      <p:sp>
        <p:nvSpPr>
          <p:cNvPr id="7" name="Text 4"/>
          <p:cNvSpPr/>
          <p:nvPr/>
        </p:nvSpPr>
        <p:spPr>
          <a:xfrm>
            <a:off x="8330992" y="1923114"/>
            <a:ext cx="2997125" cy="87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7300" b="1" spc="-146" kern="100" dirty="0">
                <a:solidFill>
                  <a:srgbClr val="F0609E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24–29</a:t>
            </a:r>
            <a:pPr algn="l" indent="0" marL="0">
              <a:lnSpc>
                <a:spcPct val="79000"/>
              </a:lnSpc>
              <a:buNone/>
            </a:pPr>
            <a:r>
              <a:rPr lang="en-US" sz="2050" b="1" spc="-146" kern="100" dirty="0">
                <a:solidFill>
                  <a:srgbClr val="F0609E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 K$</a:t>
            </a:r>
            <a:endParaRPr lang="en-US" sz="7300" dirty="0"/>
          </a:p>
        </p:txBody>
      </p:sp>
      <p:sp>
        <p:nvSpPr>
          <p:cNvPr id="8" name="Text 5"/>
          <p:cNvSpPr/>
          <p:nvPr/>
        </p:nvSpPr>
        <p:spPr>
          <a:xfrm>
            <a:off x="8330992" y="2816657"/>
            <a:ext cx="2997125" cy="61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dirty="0">
                <a:solidFill>
                  <a:srgbClr val="F7F2E8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Le moteur principal du chiffre d'affaires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330992" y="3560068"/>
            <a:ext cx="2997125" cy="188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Les vêtements dépassent largement toutes les autres catégories pour chaque groupe d'âge. Les accessoires arrivent en deuxième position solide (18 à 20 K$), tandis que les chaussures et vêtements d'extérieur restent en retrait.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9585" y="5895677"/>
            <a:ext cx="10972526" cy="921345"/>
          </a:xfrm>
          <a:prstGeom prst="roundRect">
            <a:avLst>
              <a:gd name="adj" fmla="val 19686"/>
            </a:avLst>
          </a:prstGeom>
          <a:solidFill>
            <a:srgbClr val="F4C531"/>
          </a:solidFill>
          <a:ln/>
        </p:spPr>
      </p:sp>
      <p:sp>
        <p:nvSpPr>
          <p:cNvPr id="11" name="Text 8"/>
          <p:cNvSpPr/>
          <p:nvPr/>
        </p:nvSpPr>
        <p:spPr>
          <a:xfrm>
            <a:off x="838179" y="6056745"/>
            <a:ext cx="10515337" cy="61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Constat : les vêtements et accessoires concentrent plus de 75 % de l'ensemble des montants dépensés.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268"/>
            <a:ext cx="670543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29" kern="100" dirty="0">
                <a:solidFill>
                  <a:srgbClr val="F0609E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0"/>
              </a:rPr>
              <a:t>DYNAMIQUE DES SEGMENTS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944834"/>
            <a:ext cx="6349841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F7F2E8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Les jeunes adultes dépensent le plus en vêtements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666147"/>
            <a:ext cx="1611967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400" b="1" spc="-68" kern="100" dirty="0">
                <a:solidFill>
                  <a:srgbClr val="F0609E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29 K$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26245" y="2275185"/>
            <a:ext cx="443318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7F2E8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Jeunes adultes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26245" y="2757785"/>
            <a:ext cx="4433181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Le sommet de toutes les tranches d’âge, avec environ 29 K$ en vêtements.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4069695"/>
            <a:ext cx="1611967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400" b="1" spc="-68" kern="100" dirty="0">
                <a:solidFill>
                  <a:srgbClr val="F4C531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11 K$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526245" y="3678734"/>
            <a:ext cx="443318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7F2E8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Chaussures · 40-60 ans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26245" y="4161334"/>
            <a:ext cx="4433181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La tranche d’âge moyen mène, avec environ 11 K$.</a:t>
            </a:r>
            <a:endParaRPr lang="en-US" sz="1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9585" y="3516809"/>
            <a:ext cx="6349841" cy="12700"/>
          </a:xfrm>
          <a:prstGeom prst="rect">
            <a:avLst/>
          </a:prstGeom>
          <a:solidFill>
            <a:srgbClr val="2E4275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73505"/>
            <a:ext cx="670543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29" kern="100" dirty="0">
                <a:solidFill>
                  <a:srgbClr val="F0609E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0"/>
              </a:rPr>
              <a:t>STABILITÉ DES VOLUMES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1702071"/>
            <a:ext cx="6349841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F7F2E8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Les accessoires restent stables d'un âge à l'autre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967018"/>
            <a:ext cx="6349841" cy="94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7800" b="1" spc="-156" kern="100" dirty="0">
                <a:solidFill>
                  <a:srgbClr val="F0609E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2 K$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609585" y="3992463"/>
            <a:ext cx="634984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7F2E8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d'écart à peine entre tranches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4475063"/>
            <a:ext cx="6349841" cy="1016000"/>
          </a:xfrm>
          <a:prstGeom prst="roundRect">
            <a:avLst>
              <a:gd name="adj" fmla="val 19125"/>
            </a:avLst>
          </a:prstGeom>
          <a:solidFill>
            <a:srgbClr val="F4C531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4656038"/>
            <a:ext cx="589265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Une catégorie d'appoint fiable pour la vente additionnelle.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49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F7F2E8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Les avis restent constants quand les montants varient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41525"/>
            <a:ext cx="6349841" cy="317658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70509" y="1812925"/>
            <a:ext cx="3911601" cy="3633788"/>
          </a:xfrm>
          <a:prstGeom prst="roundRect">
            <a:avLst>
              <a:gd name="adj" fmla="val 5347"/>
            </a:avLst>
          </a:prstGeom>
          <a:solidFill>
            <a:srgbClr val="16295A"/>
          </a:solidFill>
          <a:ln/>
        </p:spPr>
      </p:sp>
      <p:sp>
        <p:nvSpPr>
          <p:cNvPr id="5" name="Text 2"/>
          <p:cNvSpPr/>
          <p:nvPr/>
        </p:nvSpPr>
        <p:spPr>
          <a:xfrm>
            <a:off x="7924503" y="3016845"/>
            <a:ext cx="3403614" cy="1225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La note cumulée est similaire dans les quatre catégories. Les montants cumulés vont d'environ 0,11 M à 0,02 M.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268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29" kern="100" dirty="0">
                <a:solidFill>
                  <a:srgbClr val="F0609E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0"/>
              </a:rPr>
              <a:t>PLAN COMMERCIAL &amp; RECOMMANDATIONS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94483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F7F2E8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Trois pistes d'action pour l'équipe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854498"/>
            <a:ext cx="2895528" cy="162877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084" y="1854498"/>
            <a:ext cx="2895528" cy="162877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988" y="1854498"/>
            <a:ext cx="2895528" cy="162877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81010" y="4064298"/>
            <a:ext cx="3714657" cy="76200"/>
          </a:xfrm>
          <a:prstGeom prst="rect">
            <a:avLst/>
          </a:prstGeom>
          <a:solidFill>
            <a:srgbClr val="F0609E"/>
          </a:solidFill>
          <a:ln/>
        </p:spPr>
      </p:sp>
      <p:sp>
        <p:nvSpPr>
          <p:cNvPr id="8" name="Text 3"/>
          <p:cNvSpPr/>
          <p:nvPr/>
        </p:nvSpPr>
        <p:spPr>
          <a:xfrm>
            <a:off x="736532" y="4365923"/>
            <a:ext cx="340351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7F2E8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1. Accentuer les vêtements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36582" y="4848523"/>
            <a:ext cx="3403515" cy="1045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Concentrer les campagnes d'acquisition et les promotions textiles sur les 18–35 ans, cœur du volume d'achat.</a:t>
            </a:r>
            <a:endParaRPr lang="en-US" sz="1450" dirty="0"/>
          </a:p>
        </p:txBody>
      </p:sp>
      <p:sp>
        <p:nvSpPr>
          <p:cNvPr id="10" name="Shape 5"/>
          <p:cNvSpPr/>
          <p:nvPr/>
        </p:nvSpPr>
        <p:spPr>
          <a:xfrm>
            <a:off x="4238519" y="4064298"/>
            <a:ext cx="3714657" cy="76200"/>
          </a:xfrm>
          <a:prstGeom prst="rect">
            <a:avLst/>
          </a:prstGeom>
          <a:solidFill>
            <a:srgbClr val="F0609E"/>
          </a:solidFill>
          <a:ln/>
        </p:spPr>
      </p:sp>
      <p:sp>
        <p:nvSpPr>
          <p:cNvPr id="11" name="Text 6"/>
          <p:cNvSpPr/>
          <p:nvPr/>
        </p:nvSpPr>
        <p:spPr>
          <a:xfrm>
            <a:off x="4394090" y="4365923"/>
            <a:ext cx="340351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7F2E8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2. Cibler les chaussures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394090" y="4848523"/>
            <a:ext cx="3403515" cy="1045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Orienter l'offre souliers et le merchandising spécifique vers les clients de 40 à 60 ans, segment le plus réceptif.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7896027" y="4064298"/>
            <a:ext cx="3714657" cy="7620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14" name="Text 9"/>
          <p:cNvSpPr/>
          <p:nvPr/>
        </p:nvSpPr>
        <p:spPr>
          <a:xfrm>
            <a:off x="8051599" y="4365923"/>
            <a:ext cx="340351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7F2E8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3. Systématiser l'accessoire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051599" y="5178723"/>
            <a:ext cx="3403515" cy="1045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Intégrer les accessoires en vente croisée systématique à chaque commande pour maximiser le panier moyen de 60 $.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2184345" y="3838873"/>
            <a:ext cx="507987" cy="508000"/>
          </a:xfrm>
          <a:prstGeom prst="ellipse">
            <a:avLst/>
          </a:prstGeom>
          <a:solidFill>
            <a:srgbClr val="F0609E"/>
          </a:solidFill>
          <a:ln/>
        </p:spPr>
      </p:sp>
      <p:sp>
        <p:nvSpPr>
          <p:cNvPr id="17" name="Text 12"/>
          <p:cNvSpPr/>
          <p:nvPr/>
        </p:nvSpPr>
        <p:spPr>
          <a:xfrm>
            <a:off x="2392997" y="3978573"/>
            <a:ext cx="7001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E1F45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1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841854" y="3838873"/>
            <a:ext cx="507987" cy="508000"/>
          </a:xfrm>
          <a:prstGeom prst="ellipse">
            <a:avLst/>
          </a:prstGeom>
          <a:solidFill>
            <a:srgbClr val="F0609E"/>
          </a:solidFill>
          <a:ln/>
        </p:spPr>
      </p:sp>
      <p:sp>
        <p:nvSpPr>
          <p:cNvPr id="19" name="Text 14"/>
          <p:cNvSpPr/>
          <p:nvPr/>
        </p:nvSpPr>
        <p:spPr>
          <a:xfrm>
            <a:off x="6032448" y="3978573"/>
            <a:ext cx="7362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E1F45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2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9499362" y="3838873"/>
            <a:ext cx="507987" cy="5080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21" name="Text 16"/>
          <p:cNvSpPr/>
          <p:nvPr/>
        </p:nvSpPr>
        <p:spPr>
          <a:xfrm>
            <a:off x="9687675" y="3978573"/>
            <a:ext cx="7408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E1F45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2026-10-25T21:04:07Z</dcterms:created>
  <dcterms:modified xsi:type="dcterms:W3CDTF">2026-10-25T21:04:07Z</dcterms:modified>
</cp:coreProperties>
</file>